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36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356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387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17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741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145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5748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712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817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719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09723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8899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57A2DE2-74C0-4003-ACB7-47BA97158F04}" type="datetimeFigureOut">
              <a:rPr lang="en-IL" smtClean="0"/>
              <a:t>07/02/2026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2030A4AB-5B7E-43FC-8A9B-AE67DC7CFE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316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3673B-52FA-430B-AB38-DEA4523FFB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ניתוח נטישת לקוחות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3A6EA-5C2D-43CF-81B5-2A729FE797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ניתוח גורמים המשפיעים על נטישת לקוחות בחברת תקשורת</a:t>
            </a:r>
            <a:r>
              <a:rPr lang="en-US" dirty="0"/>
              <a:t> </a:t>
            </a:r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F0639-4DD9-4912-B334-03745E1813A4}"/>
              </a:ext>
            </a:extLst>
          </p:cNvPr>
          <p:cNvSpPr txBox="1"/>
          <p:nvPr/>
        </p:nvSpPr>
        <p:spPr>
          <a:xfrm>
            <a:off x="9662160" y="5858256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אילנה מובשוביץ</a:t>
            </a:r>
          </a:p>
          <a:p>
            <a:pPr algn="r" rtl="1"/>
            <a:r>
              <a:rPr lang="he-IL" dirty="0"/>
              <a:t>ינואר 2026</a:t>
            </a:r>
          </a:p>
        </p:txBody>
      </p:sp>
    </p:spTree>
    <p:extLst>
      <p:ext uri="{BB962C8B-B14F-4D97-AF65-F5344CB8AC3E}">
        <p14:creationId xmlns:p14="http://schemas.microsoft.com/office/powerpoint/2010/main" val="3166125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35CB-0013-447C-8316-A326B4753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87680"/>
            <a:ext cx="9875520" cy="1207008"/>
          </a:xfrm>
        </p:spPr>
        <p:txBody>
          <a:bodyPr/>
          <a:lstStyle/>
          <a:p>
            <a:pPr algn="ctr" rtl="1"/>
            <a:r>
              <a:rPr lang="he-IL" dirty="0"/>
              <a:t>מטרת הניתוח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FA99-DBAB-4FD8-B698-49198FD50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Font typeface="Wingdings" panose="05000000000000000000" pitchFamily="2" charset="2"/>
              <a:buChar char="§"/>
            </a:pPr>
            <a:r>
              <a:rPr lang="he-IL" sz="2000" dirty="0"/>
              <a:t>זיהוי הגורמים המרכזיים לנטישת לקוחות</a:t>
            </a:r>
          </a:p>
          <a:p>
            <a:pPr algn="r" rtl="1">
              <a:buFont typeface="Wingdings" panose="05000000000000000000" pitchFamily="2" charset="2"/>
              <a:buChar char="§"/>
            </a:pPr>
            <a:r>
              <a:rPr lang="he-IL" sz="2000" dirty="0"/>
              <a:t>לבדוק את הקשר בין נטישה, תשלומים חודשיים ושירותים נלווים של הלקוחות</a:t>
            </a:r>
          </a:p>
          <a:p>
            <a:pPr algn="r" rtl="1">
              <a:buFont typeface="Wingdings" panose="05000000000000000000" pitchFamily="2" charset="2"/>
              <a:buChar char="§"/>
            </a:pPr>
            <a:r>
              <a:rPr lang="he-IL" sz="2000" dirty="0"/>
              <a:t>לזהות לקוחות בסיכון גבוה לנטישה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6639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EC810-8B48-4B48-BD25-2EE8941E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493776"/>
            <a:ext cx="9875520" cy="1164336"/>
          </a:xfrm>
        </p:spPr>
        <p:txBody>
          <a:bodyPr/>
          <a:lstStyle/>
          <a:p>
            <a:pPr algn="ctr" rtl="1"/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תיאור הנתונים</a:t>
            </a:r>
            <a:endParaRPr lang="en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77506-C518-47A1-9651-9C8EFE659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r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מקור הנתונים: 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דאטה סט לדוגמא מבית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IBM 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, המבוסס על לקוחות חברת תקשורת</a:t>
            </a:r>
          </a:p>
          <a:p>
            <a:pPr algn="r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סטטוס לקוח: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Stayed / Churned / Joined</a:t>
            </a:r>
            <a:endParaRPr lang="he-I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משתנים מרכזיים שנבדקו:</a:t>
            </a:r>
          </a:p>
          <a:p>
            <a:pPr lvl="1" algn="r" rt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ותק (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Tenure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 בחודשים</a:t>
            </a:r>
          </a:p>
          <a:p>
            <a:pPr lvl="1" algn="r" rt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תשלום חודשי ממוצע (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ARPM / Monthly Charges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 algn="r" rt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סוג חוזה (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Contract Type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Month-to-month / One Year / Two Year</a:t>
            </a:r>
            <a:endParaRPr lang="he-IL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r" rt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שירותים נלווים: שירותי סטרימינג (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TV/Music/Movies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), שירות תמיכה פרימיום, קוויי טלפון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r" rt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שירותי אינטרנט: סוג אינטרנט (קווי /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DSL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 / סיבים אופטיים), ממוצע הורדות בחודש (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GB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 algn="r" rt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החזרים כספיים (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Refunds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 algn="r" rt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נתונים גאוגרפיים: עיר, גודל אוכלוסייה</a:t>
            </a:r>
          </a:p>
          <a:p>
            <a:pPr lvl="1" algn="r" rt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מדדי מפתח (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KPIs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): שיעור נטישת לקוחות (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Churn Rate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), הכנסה ממוצעת ללקוח (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ARPU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QRR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, שינוי נטו (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Net Change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L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021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C9DC-6AF8-485D-A4F5-1968A9FB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232" y="493776"/>
            <a:ext cx="9875520" cy="1158240"/>
          </a:xfrm>
        </p:spPr>
        <p:txBody>
          <a:bodyPr/>
          <a:lstStyle/>
          <a:p>
            <a:pPr algn="ctr"/>
            <a:r>
              <a:rPr lang="he-IL" dirty="0"/>
              <a:t>מדדי מפתח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D34BA-7117-4FD5-8388-5994D3383599}"/>
              </a:ext>
            </a:extLst>
          </p:cNvPr>
          <p:cNvSpPr/>
          <p:nvPr/>
        </p:nvSpPr>
        <p:spPr>
          <a:xfrm>
            <a:off x="2328672" y="2011680"/>
            <a:ext cx="3468624" cy="166420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Churn Rate</a:t>
            </a:r>
          </a:p>
          <a:p>
            <a:pPr algn="ctr"/>
            <a:r>
              <a:rPr lang="en-US" sz="36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28.4%</a:t>
            </a:r>
            <a:endParaRPr lang="en-IL" sz="36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94794-D9CF-459D-A5CB-EB2AFAC75862}"/>
              </a:ext>
            </a:extLst>
          </p:cNvPr>
          <p:cNvSpPr/>
          <p:nvPr/>
        </p:nvSpPr>
        <p:spPr>
          <a:xfrm>
            <a:off x="5913120" y="2011680"/>
            <a:ext cx="3468624" cy="166420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 Change (</a:t>
            </a:r>
            <a:r>
              <a:rPr lang="he-I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לקוחות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/>
            <a:r>
              <a:rPr lang="en-US" sz="36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-1,415</a:t>
            </a:r>
            <a:endParaRPr lang="en-IL" sz="36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9645A-E0E1-4E88-97CC-5DA3D7F697D1}"/>
              </a:ext>
            </a:extLst>
          </p:cNvPr>
          <p:cNvSpPr/>
          <p:nvPr/>
        </p:nvSpPr>
        <p:spPr>
          <a:xfrm>
            <a:off x="2328672" y="3791712"/>
            <a:ext cx="3468624" cy="166420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ARPU</a:t>
            </a:r>
          </a:p>
          <a:p>
            <a:pPr algn="ctr"/>
            <a:r>
              <a:rPr lang="en-US" sz="36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$3,034</a:t>
            </a:r>
            <a:endParaRPr lang="en-IL" sz="36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BE1A1B-CAEF-4285-BADF-F252DED38129}"/>
              </a:ext>
            </a:extLst>
          </p:cNvPr>
          <p:cNvSpPr/>
          <p:nvPr/>
        </p:nvSpPr>
        <p:spPr>
          <a:xfrm>
            <a:off x="5913120" y="3777424"/>
            <a:ext cx="3468624" cy="166420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QRR (</a:t>
            </a: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משוער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/>
            <a:r>
              <a:rPr lang="en-US" sz="36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$1.37M</a:t>
            </a:r>
            <a:endParaRPr lang="en-IL" sz="36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241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7BB9-DA33-449C-9BE2-7774267B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04" y="493776"/>
            <a:ext cx="9875520" cy="1060704"/>
          </a:xfrm>
        </p:spPr>
        <p:txBody>
          <a:bodyPr/>
          <a:lstStyle/>
          <a:p>
            <a:pPr algn="ctr" rtl="1"/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שאלות הניתוח המרכזיות</a:t>
            </a:r>
            <a:endParaRPr lang="en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8E627FC-5D26-4F31-A50B-617B86E01F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6610"/>
            <a:ext cx="10515600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מה הקשר בין סוג החוזה לנטישת לקוחות?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he-I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השערה:</a:t>
            </a:r>
            <a:r>
              <a:rPr lang="he-I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לקוחות עם חוזים קצרים יותר נוטים לנטוש יותר מלקוחות עם חוזים ארוכים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מה הקשר בין ותק הלקוח בחברה לנטישה?</a:t>
            </a:r>
            <a:r>
              <a:rPr kumimoji="0" lang="en-US" altLang="en-I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he-I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השערה:</a:t>
            </a:r>
            <a:r>
              <a:rPr lang="he-I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לקוחות שנמצאים בחברה זמן קצר יותר נוטים לנטוש יותר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e-IL" altLang="en-I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מה הקשר בין דמי מנוי חודשיים לנטישה?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he-I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השערה:</a:t>
            </a:r>
            <a:r>
              <a:rPr lang="he-I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לקוחות שמשלמים יותר בחודש נוטים לנטוש יותר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e-I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מה הקשר בין הפניות לקוח לנטישת לקוחות?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he-I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השערה:</a:t>
            </a:r>
            <a:r>
              <a:rPr lang="he-I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לקוחות שלא מפנים אחרים נוטים לנטוש יותר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45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D173-F34E-49B2-8AE9-824249AAB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24" y="400812"/>
            <a:ext cx="9875520" cy="1159764"/>
          </a:xfrm>
        </p:spPr>
        <p:txBody>
          <a:bodyPr/>
          <a:lstStyle/>
          <a:p>
            <a:pPr algn="ctr" rtl="1"/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השפעת סוג החוזה על נטישת לקוחות</a:t>
            </a:r>
            <a:endParaRPr lang="en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023CA-7F88-49A0-A575-77C48AABA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2656" y="1633728"/>
            <a:ext cx="7053072" cy="414528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endParaRPr lang="en-US" dirty="0"/>
          </a:p>
          <a:p>
            <a:pPr marL="0" indent="0" algn="r" rtl="1">
              <a:buNone/>
            </a:pPr>
            <a:endParaRPr lang="en-US" dirty="0"/>
          </a:p>
          <a:p>
            <a:pPr marL="0" indent="0" algn="r" rtl="1">
              <a:buNone/>
            </a:pPr>
            <a:endParaRPr lang="en-US" dirty="0"/>
          </a:p>
          <a:p>
            <a:pPr marL="0" indent="0" algn="r" rtl="1">
              <a:buNone/>
            </a:pPr>
            <a:endParaRPr lang="en-US" dirty="0"/>
          </a:p>
          <a:p>
            <a:pPr marL="0" indent="0" algn="r" rtl="1">
              <a:buNone/>
            </a:pPr>
            <a:endParaRPr lang="en-US" sz="1800" dirty="0"/>
          </a:p>
          <a:p>
            <a:pPr marL="0" indent="0" algn="r" rtl="1">
              <a:lnSpc>
                <a:spcPct val="110000"/>
              </a:lnSpc>
              <a:buNone/>
            </a:pPr>
            <a:r>
              <a:rPr lang="he-IL" sz="1800" b="1" dirty="0">
                <a:latin typeface="Calibri" panose="020F0502020204030204" pitchFamily="34" charset="0"/>
                <a:cs typeface="Calibri" panose="020F0502020204030204" pitchFamily="34" charset="0"/>
              </a:rPr>
              <a:t>לקוחות עם חוזה חודשי מציגים את שיעור הנטישה הגבוה ביותר (כ-52%), לעומת חוזה לשנה (כ-11%) וחוזה לשנתיים (כ-3%).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slide2" descr="Dashboard 8">
            <a:extLst>
              <a:ext uri="{FF2B5EF4-FFF2-40B4-BE49-F238E27FC236}">
                <a16:creationId xmlns:a16="http://schemas.microsoft.com/office/drawing/2014/main" id="{E784AEDC-F329-491C-AA6D-177544026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432" y="1292352"/>
            <a:ext cx="4754880" cy="332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84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E762A-B777-4C6D-9DEF-3D77009E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854" y="521288"/>
            <a:ext cx="8596668" cy="762000"/>
          </a:xfrm>
        </p:spPr>
        <p:txBody>
          <a:bodyPr/>
          <a:lstStyle/>
          <a:p>
            <a:pPr algn="ctr" rtl="1"/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הקשר בין ותק לנטישת לקוחות</a:t>
            </a:r>
            <a:endParaRPr lang="en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1AA9C-595F-418E-9FFA-FD0BC6E22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89760" y="1371600"/>
            <a:ext cx="4102608" cy="3285744"/>
          </a:xfrm>
        </p:spPr>
        <p:txBody>
          <a:bodyPr>
            <a:normAutofit/>
          </a:bodyPr>
          <a:lstStyle/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 rtl="1">
              <a:buNone/>
            </a:pPr>
            <a:endParaRPr lang="he-IL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 rtl="1">
              <a:lnSpc>
                <a:spcPts val="2000"/>
              </a:lnSpc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A886B-D456-4D79-A099-9C0EBA4ED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4496" y="1371601"/>
            <a:ext cx="4145280" cy="3285743"/>
          </a:xfrm>
        </p:spPr>
        <p:txBody>
          <a:bodyPr>
            <a:normAutofit/>
          </a:bodyPr>
          <a:lstStyle/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lnSpc>
                <a:spcPct val="120000"/>
              </a:lnSpc>
              <a:buNone/>
            </a:pP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slide2" descr="Avg. tenure by Contract (db)">
            <a:extLst>
              <a:ext uri="{FF2B5EF4-FFF2-40B4-BE49-F238E27FC236}">
                <a16:creationId xmlns:a16="http://schemas.microsoft.com/office/drawing/2014/main" id="{1803FD9B-86C2-451D-80F0-A734A4EBC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396" y="1233326"/>
            <a:ext cx="3281108" cy="304946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8000"/>
                  <a:lumMod val="37000"/>
                  <a:lumOff val="63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</p:pic>
      <p:pic>
        <p:nvPicPr>
          <p:cNvPr id="7" name="slide2" descr="Churn rate by Tenure Group &amp;amp; Contract Type (db)">
            <a:extLst>
              <a:ext uri="{FF2B5EF4-FFF2-40B4-BE49-F238E27FC236}">
                <a16:creationId xmlns:a16="http://schemas.microsoft.com/office/drawing/2014/main" id="{91634176-0613-4490-AFDA-CF2F0EF98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92" y="1283288"/>
            <a:ext cx="3609757" cy="33061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FA9A89-E4F8-4101-81CD-0C6244A773AD}"/>
              </a:ext>
            </a:extLst>
          </p:cNvPr>
          <p:cNvSpPr txBox="1"/>
          <p:nvPr/>
        </p:nvSpPr>
        <p:spPr>
          <a:xfrm>
            <a:off x="2865120" y="5750560"/>
            <a:ext cx="7897368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000"/>
              </a:lnSpc>
            </a:pPr>
            <a:r>
              <a:rPr lang="he-IL" b="1" dirty="0">
                <a:solidFill>
                  <a:schemeClr val="accent1"/>
                </a:solidFill>
              </a:rPr>
              <a:t>החודשים הראשונים הם 'תקופת המבחן' – מיקוד בשימור לקוחות חדשים ייצב את אחוז הנטישה לטווח הארוך.</a:t>
            </a:r>
            <a:endParaRPr lang="en-IL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C4402B-BB1E-4AC9-BC67-66C5CD3D7A3C}"/>
              </a:ext>
            </a:extLst>
          </p:cNvPr>
          <p:cNvSpPr txBox="1"/>
          <p:nvPr/>
        </p:nvSpPr>
        <p:spPr>
          <a:xfrm>
            <a:off x="1267969" y="4696120"/>
            <a:ext cx="46566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במנויים חודשיים, שיעור הנטישה יורד ככל שהלקוח שוהה זמן ארוך יותר. במנויים ארוכי טווח, לעומת זאת, נצפית עלייה קלה עם הזמן אך שיעור הנטישה נמוך יחסית למנויים חודשיים.</a:t>
            </a:r>
            <a:endParaRPr lang="en-IL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ED384-47FD-43B0-96AE-9C477FABB1F9}"/>
              </a:ext>
            </a:extLst>
          </p:cNvPr>
          <p:cNvSpPr txBox="1"/>
          <p:nvPr/>
        </p:nvSpPr>
        <p:spPr>
          <a:xfrm>
            <a:off x="6768810" y="4312422"/>
            <a:ext cx="37955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הוותק הממוצע של לקוחות בחוזה חודשי נמוך משמעותית בהשוואה לחוזים שנתיים ודו־שנתיים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L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136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B1F1-89EB-45EB-8A22-7FB4C79D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0" y="468552"/>
            <a:ext cx="10329672" cy="838307"/>
          </a:xfrm>
        </p:spPr>
        <p:txBody>
          <a:bodyPr/>
          <a:lstStyle/>
          <a:p>
            <a:pPr algn="ctr" rtl="1"/>
            <a:r>
              <a:rPr lang="he-IL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השפעת המחיר על הנטישה בסוגי חוזים שונים</a:t>
            </a:r>
            <a:endParaRPr lang="en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slide2" descr="Churn Rate by Mth. Charge Tier &amp;amp; Contract (db)">
            <a:extLst>
              <a:ext uri="{FF2B5EF4-FFF2-40B4-BE49-F238E27FC236}">
                <a16:creationId xmlns:a16="http://schemas.microsoft.com/office/drawing/2014/main" id="{FF12CDAD-7B5A-4297-8C09-E4ABA3359A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590" y="1150028"/>
            <a:ext cx="5845260" cy="3690196"/>
          </a:xfrm>
          <a:prstGeom prst="rect">
            <a:avLst/>
          </a:prstGeom>
        </p:spPr>
      </p:pic>
      <p:pic>
        <p:nvPicPr>
          <p:cNvPr id="6" name="slide2" descr="Avg Monthly Charges/Contract (db)">
            <a:extLst>
              <a:ext uri="{FF2B5EF4-FFF2-40B4-BE49-F238E27FC236}">
                <a16:creationId xmlns:a16="http://schemas.microsoft.com/office/drawing/2014/main" id="{23CE5759-1220-412E-A6DF-0BA2D2D63F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545" y="1226077"/>
            <a:ext cx="3035222" cy="26997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CFA03E-BEBE-424B-AECF-D4F0ACA2B258}"/>
              </a:ext>
            </a:extLst>
          </p:cNvPr>
          <p:cNvSpPr txBox="1"/>
          <p:nvPr/>
        </p:nvSpPr>
        <p:spPr>
          <a:xfrm>
            <a:off x="8510139" y="4023393"/>
            <a:ext cx="2889503" cy="110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000"/>
              </a:lnSpc>
            </a:pP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התשלומים החודשיים הממוצעים כמעט זהים בכל סוגי החוזים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(62$-66$) </a:t>
            </a: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, ולכן </a:t>
            </a:r>
            <a:r>
              <a:rPr lang="he-IL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המחיר לבדו אינו הסיבה העיקרית לנטישה.</a:t>
            </a:r>
            <a:endParaRPr lang="en-IL" sz="16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7C32B-8E47-4006-9ED8-F6C1E00AD320}"/>
              </a:ext>
            </a:extLst>
          </p:cNvPr>
          <p:cNvSpPr txBox="1"/>
          <p:nvPr/>
        </p:nvSpPr>
        <p:spPr>
          <a:xfrm>
            <a:off x="1009096" y="4946895"/>
            <a:ext cx="6986016" cy="1149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080"/>
              </a:lnSpc>
            </a:pP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קשר ישיר בין סוג החוזה לרגישות למחיר: בעוד שחוזים ארוכי טווח יוצרים יציבות וממתנים את נטיית הלקוח לנטוש, לקוחות במסלול חודשי רגישים במיוחד לשינויי מחיר. אצלם, כל עלייה בתמחור מתורגמת באופן מיידי לזינוק חד בשיעורי הנטישה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לכן, </a:t>
            </a:r>
            <a:r>
              <a:rPr lang="he-IL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למרות שהמחיר מהווה פקטור בנטישה, סוג החוזה הוא הגורם המכריע המשפיע על החלטת הלקוח.</a:t>
            </a:r>
            <a:endParaRPr lang="en-IL" sz="16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14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7668-B00E-4CDB-AB8F-B7FBA7FD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184" y="434370"/>
            <a:ext cx="9875520" cy="1170432"/>
          </a:xfrm>
        </p:spPr>
        <p:txBody>
          <a:bodyPr/>
          <a:lstStyle/>
          <a:p>
            <a:pPr algn="r" rtl="1"/>
            <a:r>
              <a:rPr lang="he-IL" dirty="0"/>
              <a:t>הקשר בין הפניות לקוח לנטישת לקוחות</a:t>
            </a:r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7E8959-4889-4FC6-95C6-13A5FFCC8C32}"/>
              </a:ext>
            </a:extLst>
          </p:cNvPr>
          <p:cNvSpPr txBox="1"/>
          <p:nvPr/>
        </p:nvSpPr>
        <p:spPr>
          <a:xfrm>
            <a:off x="6877475" y="4251960"/>
            <a:ext cx="466276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1800"/>
              </a:lnSpc>
            </a:pP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לקוחות שהפנו לפחות לקוח אחד מציגים נטישה נמוכה משמעותית (19.9%) לעומת לקוחות שלא הפנו כלל (36.1%), מה שמצביע על קשר חזק בין הפניה לנאמנות.</a:t>
            </a:r>
            <a:endParaRPr lang="en-IL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1D50A0-DF80-42E9-9E88-817BDA671480}"/>
              </a:ext>
            </a:extLst>
          </p:cNvPr>
          <p:cNvSpPr txBox="1"/>
          <p:nvPr/>
        </p:nvSpPr>
        <p:spPr>
          <a:xfrm>
            <a:off x="932688" y="4315968"/>
            <a:ext cx="52578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1800"/>
              </a:lnSpc>
            </a:pP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לקוחות עם הפניה אחת בלבד מציגים נטישה גבוהה (47.3%), בעוד שלקוחות עם 2 הפניות ומעלה מציגים נטישה נמוכה במיוחד (12–3.7%), מה שמראה על כך שהפניות חוזרות משקפות נאמנות גבוהה.</a:t>
            </a:r>
            <a:endParaRPr lang="en-IL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slide2" descr="Churn Rate by Referral Buckets (db)">
            <a:extLst>
              <a:ext uri="{FF2B5EF4-FFF2-40B4-BE49-F238E27FC236}">
                <a16:creationId xmlns:a16="http://schemas.microsoft.com/office/drawing/2014/main" id="{D11500F4-489B-4227-A99B-4DAFBCED9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268" y="1517904"/>
            <a:ext cx="4076676" cy="2734056"/>
          </a:xfrm>
          <a:prstGeom prst="rect">
            <a:avLst/>
          </a:prstGeom>
        </p:spPr>
      </p:pic>
      <p:pic>
        <p:nvPicPr>
          <p:cNvPr id="20" name="slide2" descr="Churn Rate by Referral Status">
            <a:extLst>
              <a:ext uri="{FF2B5EF4-FFF2-40B4-BE49-F238E27FC236}">
                <a16:creationId xmlns:a16="http://schemas.microsoft.com/office/drawing/2014/main" id="{0D715CCF-FCFF-4A23-9982-013D37A43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421" y="1734312"/>
            <a:ext cx="3844875" cy="23012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16F632E-77E4-47C8-BB2B-3516AE94095A}"/>
              </a:ext>
            </a:extLst>
          </p:cNvPr>
          <p:cNvSpPr txBox="1"/>
          <p:nvPr/>
        </p:nvSpPr>
        <p:spPr>
          <a:xfrm>
            <a:off x="4376928" y="5599176"/>
            <a:ext cx="7241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</a:rPr>
              <a:t>ככל שלקוח מבצע יותר הפניות, כך הסבירות שלו לנטישה נמוכה יותר</a:t>
            </a:r>
            <a:r>
              <a:rPr lang="en-US" b="1" dirty="0">
                <a:solidFill>
                  <a:schemeClr val="accent1"/>
                </a:solidFill>
              </a:rPr>
              <a:t>.</a:t>
            </a:r>
            <a:endParaRPr lang="en-IL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5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7D5AE-37F3-49A0-A7D4-9EF823181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51" y="512064"/>
            <a:ext cx="9875520" cy="1109472"/>
          </a:xfrm>
        </p:spPr>
        <p:txBody>
          <a:bodyPr/>
          <a:lstStyle/>
          <a:p>
            <a:pPr algn="ctr" rtl="1"/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תובנות מרכזיות</a:t>
            </a:r>
            <a:endParaRPr lang="en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3FD6E-F90F-4E02-9DCC-48BF1CB48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ts val="2500"/>
              </a:lnSpc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מה הקשר בין סוג החוזה לנטישת לקוחות?</a:t>
            </a:r>
            <a:b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קיים קשר ברור בין סוג החוזה לנטישה, כאשר לקוחות בחוזה חודשי נמצאים בסיכון גבוה יותר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r" rtl="1">
              <a:lnSpc>
                <a:spcPts val="2500"/>
              </a:lnSpc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מה הקשר בין ותק הלקוח בחברה לנטישה?</a:t>
            </a:r>
            <a:b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הקשר בין ותק לנטישה משתנה לפי סוג החוזה: במנויים חודשיים שיעור הנטישה גבוה בתחילת הדרך ויורד עם הזמן, בעוד שבחוזים ארוכי טווח נצפית עלייה מתונה בנטישה ככל שהוותק עולה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he-I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ts val="2500"/>
              </a:lnSpc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מה הקשר בין דמי מנוי חודשיים לנטישה?</a:t>
            </a:r>
            <a:b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קיים קשר מסוים בין רמת המחיר לנטישה, אך סוג החוזה בולט כאינדיקטור חזק יותר לרמת הסיכון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r" rtl="1">
              <a:lnSpc>
                <a:spcPts val="2500"/>
              </a:lnSpc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מה הקשר בין הפניות לקוח לנטישת לקוחות?</a:t>
            </a:r>
            <a:b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ככל שלקוח מבצע יותר הפניות, כך הסבירות שלו לנטישה נמוכה יותר</a:t>
            </a:r>
            <a:endParaRPr lang="en-I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39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C20E-A587-4E76-AC22-CAE0D798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663" y="512064"/>
            <a:ext cx="9875520" cy="969264"/>
          </a:xfrm>
        </p:spPr>
        <p:txBody>
          <a:bodyPr/>
          <a:lstStyle/>
          <a:p>
            <a:pPr algn="ctr" rtl="1"/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המלצות עסקיות</a:t>
            </a:r>
            <a:endParaRPr lang="en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BE7A5-A9BC-498F-A803-91B3C1375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51" y="1789176"/>
            <a:ext cx="9872871" cy="4038600"/>
          </a:xfrm>
        </p:spPr>
        <p:txBody>
          <a:bodyPr>
            <a:noAutofit/>
          </a:bodyPr>
          <a:lstStyle/>
          <a:p>
            <a:pPr algn="r" rtl="1">
              <a:lnSpc>
                <a:spcPts val="1800"/>
              </a:lnSpc>
              <a:spcAft>
                <a:spcPts val="1500"/>
              </a:spcAft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מיקוד בחוזים ארוכי טווח</a:t>
            </a:r>
          </a:p>
          <a:p>
            <a:pPr lvl="1" algn="r" rtl="1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בניית תוכנית תמריצים להעברת לקוחות ממסלול חודשי לחוזים שנתיים, עם דגש על לקוחות בדרג תשלום גבוה, שם הסיכון לנטישה הוא המקסימלי (כ-</a:t>
            </a:r>
            <a:r>
              <a:rPr lang="he-IL" sz="1800" b="1" dirty="0">
                <a:latin typeface="Calibri" panose="020F0502020204030204" pitchFamily="34" charset="0"/>
                <a:cs typeface="Calibri" panose="020F0502020204030204" pitchFamily="34" charset="0"/>
              </a:rPr>
              <a:t>59%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lvl="1" algn="r" rtl="1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שימוש בהטבות מחיר מותנות: במקום הנחות רוחביות, נציע הטבות כספיות רק כנגד התחייבות לחוזה ארוך טווח ובכך ננטרל את רגישות המחיר באמצעות יציבות חוזית.</a:t>
            </a:r>
            <a:endParaRPr lang="he-IL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ts val="1800"/>
              </a:lnSpc>
              <a:spcAft>
                <a:spcPts val="1500"/>
              </a:spcAft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ליווי צמוד ללקוחות חדשים במסלולים חודשיים </a:t>
            </a:r>
          </a:p>
          <a:p>
            <a:pPr lvl="1" algn="r" rtl="1">
              <a:lnSpc>
                <a:spcPts val="2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השקעת משאבי שימור מוגברים בלקוחות חדשים בחודשים הראשונים להצטרפותם באמצעות תוכנית אונבורדינג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ייעודית שתלווה את הלקוח בצעדיו הראשונים ותפחית את הסיכוי לנטישה מוקדמת המאפיינת מסלולים אלו. 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ts val="1800"/>
              </a:lnSpc>
              <a:spcAft>
                <a:spcPts val="1500"/>
              </a:spcAft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הרחבת תוכנית "חבר מביא חבר"</a:t>
            </a:r>
          </a:p>
          <a:p>
            <a:pPr lvl="1" algn="r" rtl="1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מתן תמריצים ובונוסים (כגון הנחות או שוברי מתנה)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1800" dirty="0">
                <a:latin typeface="Calibri" panose="020F0502020204030204" pitchFamily="34" charset="0"/>
                <a:cs typeface="Calibri" panose="020F0502020204030204" pitchFamily="34" charset="0"/>
              </a:rPr>
              <a:t>בכדי לעודד לקוחות להפנות לקוחות חדשים. הנתונים מראים שלקוחות שהגיעו דרך הפניה נוטשים בשיעור של כ-20% בלבד, לעומת כ-36% אצל לקוחות ללא הפניה.</a:t>
            </a:r>
            <a:endParaRPr lang="en-IL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31237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18962</TotalTime>
  <Words>794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Wingdings</vt:lpstr>
      <vt:lpstr>Basis</vt:lpstr>
      <vt:lpstr>ניתוח נטישת לקוחות</vt:lpstr>
      <vt:lpstr>מטרת הניתוח</vt:lpstr>
      <vt:lpstr>תיאור הנתונים</vt:lpstr>
      <vt:lpstr>מדדי מפתח</vt:lpstr>
      <vt:lpstr>שאלות הניתוח המרכזיות</vt:lpstr>
      <vt:lpstr>השפעת סוג החוזה על נטישת לקוחות</vt:lpstr>
      <vt:lpstr>הקשר בין ותק לנטישת לקוחות</vt:lpstr>
      <vt:lpstr>השפעת המחיר על הנטישה בסוגי חוזים שונים</vt:lpstr>
      <vt:lpstr>הקשר בין הפניות לקוח לנטישת לקוחות</vt:lpstr>
      <vt:lpstr>תובנות מרכזיות</vt:lpstr>
      <vt:lpstr>המלצות עסקיות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ניתוח נטישת לקוחות</dc:title>
  <dc:creator>Ilana M.</dc:creator>
  <cp:lastModifiedBy>Ilana M.</cp:lastModifiedBy>
  <cp:revision>238</cp:revision>
  <dcterms:created xsi:type="dcterms:W3CDTF">2026-01-28T17:08:18Z</dcterms:created>
  <dcterms:modified xsi:type="dcterms:W3CDTF">2026-02-12T06:02:33Z</dcterms:modified>
</cp:coreProperties>
</file>